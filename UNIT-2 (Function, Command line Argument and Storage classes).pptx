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</p:sldIdLst>
  <p:sldSz cy="5143500" cx="9144000"/>
  <p:notesSz cx="6858000" cy="9144000"/>
  <p:embeddedFontLst>
    <p:embeddedFont>
      <p:font typeface="Montserrat"/>
      <p:regular r:id="rId65"/>
      <p:bold r:id="rId66"/>
      <p:italic r:id="rId67"/>
      <p:boldItalic r:id="rId68"/>
    </p:embeddedFont>
    <p:embeddedFont>
      <p:font typeface="Lato"/>
      <p:regular r:id="rId69"/>
      <p:bold r:id="rId70"/>
      <p:italic r:id="rId71"/>
      <p:boldItalic r:id="rId72"/>
    </p:embeddedFont>
    <p:embeddedFont>
      <p:font typeface="Roboto Mono"/>
      <p:regular r:id="rId73"/>
      <p:bold r:id="rId74"/>
      <p:italic r:id="rId75"/>
      <p:boldItalic r:id="rId7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47A0A94-86E8-4FE9-A90E-2E175BD1018D}">
  <a:tblStyle styleId="{E47A0A94-86E8-4FE9-A90E-2E175BD1018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font" Target="fonts/RobotoMono-regular.fntdata"/><Relationship Id="rId72" Type="http://schemas.openxmlformats.org/officeDocument/2006/relationships/font" Target="fonts/Lato-boldItalic.fntdata"/><Relationship Id="rId31" Type="http://schemas.openxmlformats.org/officeDocument/2006/relationships/slide" Target="slides/slide25.xml"/><Relationship Id="rId75" Type="http://schemas.openxmlformats.org/officeDocument/2006/relationships/font" Target="fonts/RobotoMono-italic.fntdata"/><Relationship Id="rId30" Type="http://schemas.openxmlformats.org/officeDocument/2006/relationships/slide" Target="slides/slide24.xml"/><Relationship Id="rId74" Type="http://schemas.openxmlformats.org/officeDocument/2006/relationships/font" Target="fonts/RobotoMono-bold.fntdata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76" Type="http://schemas.openxmlformats.org/officeDocument/2006/relationships/font" Target="fonts/RobotoMono-boldItalic.fntdata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1" Type="http://schemas.openxmlformats.org/officeDocument/2006/relationships/font" Target="fonts/Lato-italic.fntdata"/><Relationship Id="rId70" Type="http://schemas.openxmlformats.org/officeDocument/2006/relationships/font" Target="fonts/Lato-bold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font" Target="fonts/Montserrat-bold.fntdata"/><Relationship Id="rId21" Type="http://schemas.openxmlformats.org/officeDocument/2006/relationships/slide" Target="slides/slide15.xml"/><Relationship Id="rId65" Type="http://schemas.openxmlformats.org/officeDocument/2006/relationships/font" Target="fonts/Montserrat-regular.fntdata"/><Relationship Id="rId24" Type="http://schemas.openxmlformats.org/officeDocument/2006/relationships/slide" Target="slides/slide18.xml"/><Relationship Id="rId68" Type="http://schemas.openxmlformats.org/officeDocument/2006/relationships/font" Target="fonts/Montserrat-boldItalic.fntdata"/><Relationship Id="rId23" Type="http://schemas.openxmlformats.org/officeDocument/2006/relationships/slide" Target="slides/slide17.xml"/><Relationship Id="rId67" Type="http://schemas.openxmlformats.org/officeDocument/2006/relationships/font" Target="fonts/Montserrat-italic.fntdata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Lato-regular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08050e991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c08050e991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08050e991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c08050e991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488ab975f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c488ab975f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488ab975f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c488ab975f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488ab975f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c488ab975f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c488ab975f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c488ab975f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c08050e991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c08050e991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c08050e991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c08050e991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c08050e991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c08050e991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c08050e991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c08050e991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c08050e991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c08050e991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c488ab975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c488ab975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c488ab975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c488ab975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c488ab975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c488ab975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c488ab975f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c488ab975f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c488ab975f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c488ab975f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c488ab975f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c488ab975f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c488ab975f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c488ab975f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c488ab975f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c488ab975f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c08050e991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c08050e991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c08050e991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c08050e991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c08050e991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c08050e991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c08050e991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c08050e991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c08050e991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c08050e991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c08050e991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c08050e991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c488ab975f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c488ab975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c488ab975f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c488ab975f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c488ab975f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c488ab975f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c488ab975f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c488ab975f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c488ab975f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c488ab975f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c488ab975f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c488ab975f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c58bfa9f5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c58bfa9f5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c58bfa9f51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c58bfa9f51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c58bfa9f51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c58bfa9f5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c58bfa9f51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c58bfa9f51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c58bfa9f51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c58bfa9f51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c58bfa9f51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c58bfa9f51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c58bfa9f51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c58bfa9f51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c58bfa9f51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c58bfa9f51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cf609cdc76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cf609cdc7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cf609cdc76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cf609cdc7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cf609cdc76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cf609cdc76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cf609cdc76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cf609cdc76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cf609cdc76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cf609cdc76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cf609cdc76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cf609cdc76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da0d2c371a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da0d2c371a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da0d2c371a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da0d2c371a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da0d2c371a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3da0d2c371a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da0d2c371a_1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da0d2c371a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da0d2c371a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da0d2c371a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da0d2c371a_1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3da0d2c371a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da0d2c371a_1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da0d2c371a_1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da0d2c371a_1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3da0d2c371a_1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da0d2c371a_1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3da0d2c371a_1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da0d2c371a_1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3da0d2c371a_1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da0d2c371a_1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3da0d2c371a_1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cf609cdc76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3cf609cdc76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8.png"/><Relationship Id="rId4" Type="http://schemas.openxmlformats.org/officeDocument/2006/relationships/image" Target="../media/image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9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4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3.png"/><Relationship Id="rId4" Type="http://schemas.openxmlformats.org/officeDocument/2006/relationships/image" Target="../media/image17.png"/><Relationship Id="rId5" Type="http://schemas.openxmlformats.org/officeDocument/2006/relationships/image" Target="../media/image21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022975" y="1838275"/>
            <a:ext cx="5782500" cy="210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00"/>
                </a:solidFill>
              </a:rPr>
              <a:t>Functions &amp; Pointers</a:t>
            </a:r>
            <a:endParaRPr b="1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F9900"/>
                </a:solidFill>
              </a:rPr>
              <a:t>Syllabus</a:t>
            </a:r>
            <a:endParaRPr b="1" sz="2600">
              <a:solidFill>
                <a:srgbClr val="FF9900"/>
              </a:solidFill>
            </a:endParaRPr>
          </a:p>
        </p:txBody>
      </p:sp>
      <p:pic>
        <p:nvPicPr>
          <p:cNvPr id="140" name="Google Shape;14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60250"/>
            <a:ext cx="8737275" cy="246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28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What is a Function?</a:t>
            </a:r>
            <a:endParaRPr b="1" sz="3900">
              <a:solidFill>
                <a:srgbClr val="FF9900"/>
              </a:solidFill>
            </a:endParaRPr>
          </a:p>
        </p:txBody>
      </p:sp>
      <p:sp>
        <p:nvSpPr>
          <p:cNvPr id="146" name="Google Shape;146;p15"/>
          <p:cNvSpPr txBox="1"/>
          <p:nvPr>
            <p:ph idx="1" type="body"/>
          </p:nvPr>
        </p:nvSpPr>
        <p:spPr>
          <a:xfrm>
            <a:off x="648750" y="1242875"/>
            <a:ext cx="8336400" cy="31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/>
              <a:t>A function is a block of code that performs a specific task and can be reused many times.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/>
          <p:nvPr>
            <p:ph idx="1" type="body"/>
          </p:nvPr>
        </p:nvSpPr>
        <p:spPr>
          <a:xfrm>
            <a:off x="673175" y="1567550"/>
            <a:ext cx="766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A function is like a small ready‑made machine that does one specific job, and you can use it again and again whenever you need that job done.</a:t>
            </a:r>
            <a:endParaRPr sz="19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FF00"/>
                </a:solidFill>
              </a:rPr>
              <a:t>Think of a function as a button on a machine:</a:t>
            </a:r>
            <a:endParaRPr sz="1900">
              <a:solidFill>
                <a:srgbClr val="00FF00"/>
              </a:solidFill>
            </a:endParaRPr>
          </a:p>
          <a:p>
            <a:pPr indent="-349250" lvl="0" marL="457200" rtl="0" algn="just">
              <a:spcBef>
                <a:spcPts val="120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You press the button (call the function),</a:t>
            </a:r>
            <a:endParaRPr sz="1900"/>
          </a:p>
          <a:p>
            <a:pPr indent="-349250" lvl="0" marL="457200" rtl="0" algn="just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The machine (function) does its job,</a:t>
            </a:r>
            <a:endParaRPr sz="1900"/>
          </a:p>
          <a:p>
            <a:pPr indent="-349250" lvl="0" marL="457200" rtl="0" algn="just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Then it may give you a result or just do something (like printing a message).</a:t>
            </a:r>
            <a:endParaRPr sz="1900"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52" name="Google Shape;152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30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What is a Function?</a:t>
            </a:r>
            <a:endParaRPr b="1" sz="4100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>
            <p:ph idx="1" type="body"/>
          </p:nvPr>
        </p:nvSpPr>
        <p:spPr>
          <a:xfrm>
            <a:off x="940175" y="1545900"/>
            <a:ext cx="75078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Imagine you work in a coffee shop and your job is: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/>
              <a:t>Every time a customer says “prepare coffee”, you:</a:t>
            </a:r>
            <a:endParaRPr sz="2200"/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Take a cup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Add coffee powder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Add hot water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Stir and serve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158" name="Google Shape;158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30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What is a </a:t>
            </a:r>
            <a:r>
              <a:rPr b="1" lang="en" sz="30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function? : </a:t>
            </a:r>
            <a:r>
              <a:rPr b="1" lang="en" sz="30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Real‑life example</a:t>
            </a:r>
            <a:endParaRPr b="1" sz="4100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"/>
          <p:cNvSpPr txBox="1"/>
          <p:nvPr>
            <p:ph idx="1" type="body"/>
          </p:nvPr>
        </p:nvSpPr>
        <p:spPr>
          <a:xfrm>
            <a:off x="532400" y="1443975"/>
            <a:ext cx="4612800" cy="35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3693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13"/>
              <a:buChar char="●"/>
            </a:pPr>
            <a:r>
              <a:rPr lang="en" sz="1812"/>
              <a:t>You can think of this as a </a:t>
            </a:r>
            <a:r>
              <a:rPr b="1" lang="en" sz="1812">
                <a:solidFill>
                  <a:srgbClr val="FFFF00"/>
                </a:solidFill>
              </a:rPr>
              <a:t>“prepareCoffee()</a:t>
            </a:r>
            <a:r>
              <a:rPr lang="en" sz="1812"/>
              <a:t>” function in code:</a:t>
            </a:r>
            <a:endParaRPr sz="1812"/>
          </a:p>
          <a:p>
            <a:pPr indent="-343693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13"/>
              <a:buChar char="●"/>
            </a:pPr>
            <a:r>
              <a:rPr lang="en" sz="1812"/>
              <a:t>Now, whenever a customer comes, you just </a:t>
            </a:r>
            <a:r>
              <a:rPr lang="en" sz="1812"/>
              <a:t>call:  </a:t>
            </a:r>
            <a:r>
              <a:rPr b="1" lang="en" sz="1812">
                <a:solidFill>
                  <a:srgbClr val="FFFF00"/>
                </a:solidFill>
              </a:rPr>
              <a:t>prepareCoffee();</a:t>
            </a:r>
            <a:r>
              <a:rPr b="1" lang="en" sz="1812">
                <a:solidFill>
                  <a:srgbClr val="FFFF00"/>
                </a:solidFill>
              </a:rPr>
              <a:t> </a:t>
            </a:r>
            <a:r>
              <a:rPr lang="en" sz="1812"/>
              <a:t>  // press the "prepare coffee" button</a:t>
            </a:r>
            <a:endParaRPr sz="1812"/>
          </a:p>
          <a:p>
            <a:pPr indent="-343693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13"/>
              <a:buChar char="●"/>
            </a:pPr>
            <a:r>
              <a:rPr lang="en" sz="1812"/>
              <a:t>You don’t rewrite all the steps every time; the function remembers them.</a:t>
            </a:r>
            <a:endParaRPr sz="1812"/>
          </a:p>
        </p:txBody>
      </p:sp>
      <p:sp>
        <p:nvSpPr>
          <p:cNvPr id="164" name="Google Shape;164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30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What is a function? : Real‑life example</a:t>
            </a:r>
            <a:endParaRPr b="1" sz="4100">
              <a:solidFill>
                <a:srgbClr val="FF9900"/>
              </a:solidFill>
            </a:endParaRPr>
          </a:p>
        </p:txBody>
      </p:sp>
      <p:sp>
        <p:nvSpPr>
          <p:cNvPr id="165" name="Google Shape;165;p18"/>
          <p:cNvSpPr txBox="1"/>
          <p:nvPr/>
        </p:nvSpPr>
        <p:spPr>
          <a:xfrm>
            <a:off x="5435875" y="1307850"/>
            <a:ext cx="3488700" cy="2193600"/>
          </a:xfrm>
          <a:prstGeom prst="rect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12">
                <a:solidFill>
                  <a:srgbClr val="00FFFF"/>
                </a:solidFill>
                <a:latin typeface="Lato"/>
                <a:ea typeface="Lato"/>
                <a:cs typeface="Lato"/>
                <a:sym typeface="Lato"/>
              </a:rPr>
              <a:t>void prepareCoffee() {</a:t>
            </a:r>
            <a:endParaRPr b="1" sz="1412">
              <a:solidFill>
                <a:srgbClr val="00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12">
                <a:solidFill>
                  <a:srgbClr val="00FFFF"/>
                </a:solidFill>
                <a:latin typeface="Lato"/>
                <a:ea typeface="Lato"/>
                <a:cs typeface="Lato"/>
                <a:sym typeface="Lato"/>
              </a:rPr>
              <a:t>    printf("Step 1: Take a cup\n");</a:t>
            </a:r>
            <a:endParaRPr b="1" sz="1412">
              <a:solidFill>
                <a:srgbClr val="00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12">
                <a:solidFill>
                  <a:srgbClr val="00FFFF"/>
                </a:solidFill>
                <a:latin typeface="Lato"/>
                <a:ea typeface="Lato"/>
                <a:cs typeface="Lato"/>
                <a:sym typeface="Lato"/>
              </a:rPr>
              <a:t>    printf("Step 2: Add coffee powder\n");</a:t>
            </a:r>
            <a:endParaRPr b="1" sz="1412">
              <a:solidFill>
                <a:srgbClr val="00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12">
                <a:solidFill>
                  <a:srgbClr val="00FFFF"/>
                </a:solidFill>
                <a:latin typeface="Lato"/>
                <a:ea typeface="Lato"/>
                <a:cs typeface="Lato"/>
                <a:sym typeface="Lato"/>
              </a:rPr>
              <a:t>    printf("Step 3: Add hot water\n");</a:t>
            </a:r>
            <a:endParaRPr b="1" sz="1412">
              <a:solidFill>
                <a:srgbClr val="00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12">
                <a:solidFill>
                  <a:srgbClr val="00FFFF"/>
                </a:solidFill>
                <a:latin typeface="Lato"/>
                <a:ea typeface="Lato"/>
                <a:cs typeface="Lato"/>
                <a:sym typeface="Lato"/>
              </a:rPr>
              <a:t>    printf("Step 4: Stir and serve\n");</a:t>
            </a:r>
            <a:endParaRPr b="1" sz="1412">
              <a:solidFill>
                <a:srgbClr val="00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412">
                <a:solidFill>
                  <a:srgbClr val="00FFFF"/>
                </a:solidFill>
                <a:latin typeface="Lato"/>
                <a:ea typeface="Lato"/>
                <a:cs typeface="Lato"/>
                <a:sym typeface="Lato"/>
              </a:rPr>
              <a:t>}</a:t>
            </a:r>
            <a:endParaRPr b="1" sz="1412">
              <a:solidFill>
                <a:srgbClr val="00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66" name="Google Shape;166;p18"/>
          <p:cNvCxnSpPr/>
          <p:nvPr/>
        </p:nvCxnSpPr>
        <p:spPr>
          <a:xfrm flipH="1" rot="10800000">
            <a:off x="3889200" y="1617200"/>
            <a:ext cx="1613400" cy="21660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dash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1" name="Google Shape;171;p19"/>
          <p:cNvGraphicFramePr/>
          <p:nvPr/>
        </p:nvGraphicFramePr>
        <p:xfrm>
          <a:off x="1245225" y="228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{E47A0A94-86E8-4FE9-A90E-2E175BD1018D}</a:tableStyleId>
              </a:tblPr>
              <a:tblGrid>
                <a:gridCol w="1220800"/>
                <a:gridCol w="6104000"/>
              </a:tblGrid>
              <a:tr h="442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9900"/>
                          </a:solidFill>
                        </a:rPr>
                        <a:t>Point</a:t>
                      </a:r>
                      <a:endParaRPr b="1" sz="1500">
                        <a:solidFill>
                          <a:srgbClr val="FF9900"/>
                        </a:solidFill>
                      </a:endParaRPr>
                    </a:p>
                  </a:txBody>
                  <a:tcPr marT="76200" marB="76200" marR="76200" marL="76200">
                    <a:lnL cap="flat" cmpd="sng" w="79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9900"/>
                          </a:solidFill>
                        </a:rPr>
                        <a:t>Why functions are needed</a:t>
                      </a:r>
                      <a:endParaRPr b="1" sz="1500">
                        <a:solidFill>
                          <a:srgbClr val="FF9900"/>
                        </a:solidFill>
                      </a:endParaRPr>
                    </a:p>
                  </a:txBody>
                  <a:tcPr marT="76200" marB="76200" marR="76200" marL="76200">
                    <a:lnL cap="flat" cmpd="sng" w="79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602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EFEFEF"/>
                          </a:solidFill>
                        </a:rPr>
                        <a:t>Reusability</a:t>
                      </a:r>
                      <a:endParaRPr b="1" sz="1100">
                        <a:solidFill>
                          <a:srgbClr val="EFEFEF"/>
                        </a:solidFill>
                      </a:endParaRPr>
                    </a:p>
                  </a:txBody>
                  <a:tcPr marT="76200" marB="76200" marR="76200" marL="76200">
                    <a:lnL cap="flat" cmpd="sng" w="79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EFEFEF"/>
                          </a:solidFill>
                        </a:rPr>
                        <a:t>Same code can be used many times by just calling the function instead of writing it again and again.</a:t>
                      </a:r>
                      <a:endParaRPr>
                        <a:solidFill>
                          <a:srgbClr val="EFEFEF"/>
                        </a:solidFill>
                      </a:endParaRPr>
                    </a:p>
                  </a:txBody>
                  <a:tcPr marT="76200" marB="76200" marR="76200" marL="76200">
                    <a:lnL cap="flat" cmpd="sng" w="79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2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EFEFEF"/>
                          </a:solidFill>
                        </a:rPr>
                        <a:t>Reduced repetition</a:t>
                      </a:r>
                      <a:endParaRPr b="1" sz="1100">
                        <a:solidFill>
                          <a:srgbClr val="EFEFEF"/>
                        </a:solidFill>
                      </a:endParaRPr>
                    </a:p>
                  </a:txBody>
                  <a:tcPr marT="76200" marB="76200" marR="76200" marL="76200">
                    <a:lnL cap="flat" cmpd="sng" w="79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EFEFEF"/>
                          </a:solidFill>
                        </a:rPr>
                        <a:t>If a task is repeated, you write it once in a function and call it whenever needed.</a:t>
                      </a:r>
                      <a:endParaRPr>
                        <a:solidFill>
                          <a:srgbClr val="EFEFEF"/>
                        </a:solidFill>
                      </a:endParaRPr>
                    </a:p>
                  </a:txBody>
                  <a:tcPr marT="76200" marB="76200" marR="76200" marL="76200">
                    <a:lnL cap="flat" cmpd="sng" w="79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2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EFEFEF"/>
                          </a:solidFill>
                        </a:rPr>
                        <a:t>Organized code</a:t>
                      </a:r>
                      <a:endParaRPr b="1" sz="1100">
                        <a:solidFill>
                          <a:srgbClr val="EFEFEF"/>
                        </a:solidFill>
                      </a:endParaRPr>
                    </a:p>
                  </a:txBody>
                  <a:tcPr marT="76200" marB="76200" marR="76200" marL="76200">
                    <a:lnL cap="flat" cmpd="sng" w="79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EFEFEF"/>
                          </a:solidFill>
                        </a:rPr>
                        <a:t>Large programs are split into small functions, each doing one clear task, so code becomes clean and easy to read.</a:t>
                      </a:r>
                      <a:endParaRPr>
                        <a:solidFill>
                          <a:srgbClr val="EFEFEF"/>
                        </a:solidFill>
                      </a:endParaRPr>
                    </a:p>
                  </a:txBody>
                  <a:tcPr marT="76200" marB="76200" marR="76200" marL="76200">
                    <a:lnL cap="flat" cmpd="sng" w="79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2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EFEFEF"/>
                          </a:solidFill>
                        </a:rPr>
                        <a:t>Easy debugging</a:t>
                      </a:r>
                      <a:endParaRPr b="1" sz="1100">
                        <a:solidFill>
                          <a:srgbClr val="EFEFEF"/>
                        </a:solidFill>
                      </a:endParaRPr>
                    </a:p>
                  </a:txBody>
                  <a:tcPr marT="76200" marB="76200" marR="76200" marL="76200">
                    <a:lnL cap="flat" cmpd="sng" w="79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EFEFEF"/>
                          </a:solidFill>
                        </a:rPr>
                        <a:t>If something is wrong, you can check and fix only that function without touching the whole program.</a:t>
                      </a:r>
                      <a:endParaRPr>
                        <a:solidFill>
                          <a:srgbClr val="EFEFEF"/>
                        </a:solidFill>
                      </a:endParaRPr>
                    </a:p>
                  </a:txBody>
                  <a:tcPr marT="76200" marB="76200" marR="76200" marL="76200">
                    <a:lnL cap="flat" cmpd="sng" w="79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2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EFEFEF"/>
                          </a:solidFill>
                        </a:rPr>
                        <a:t>Easy testing</a:t>
                      </a:r>
                      <a:endParaRPr b="1" sz="1100">
                        <a:solidFill>
                          <a:srgbClr val="EFEFEF"/>
                        </a:solidFill>
                      </a:endParaRPr>
                    </a:p>
                  </a:txBody>
                  <a:tcPr marT="76200" marB="76200" marR="76200" marL="76200">
                    <a:lnL cap="flat" cmpd="sng" w="79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EFEFEF"/>
                          </a:solidFill>
                        </a:rPr>
                        <a:t>You can test one function separately to make sure it works correctly before using it in the full program.</a:t>
                      </a:r>
                      <a:endParaRPr>
                        <a:solidFill>
                          <a:srgbClr val="EFEFEF"/>
                        </a:solidFill>
                      </a:endParaRPr>
                    </a:p>
                  </a:txBody>
                  <a:tcPr marT="76200" marB="76200" marR="76200" marL="76200">
                    <a:lnL cap="flat" cmpd="sng" w="79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2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EFEFEF"/>
                          </a:solidFill>
                        </a:rPr>
                        <a:t>Avoids errors</a:t>
                      </a:r>
                      <a:endParaRPr b="1" sz="1100">
                        <a:solidFill>
                          <a:srgbClr val="EFEFEF"/>
                        </a:solidFill>
                      </a:endParaRPr>
                    </a:p>
                  </a:txBody>
                  <a:tcPr marT="76200" marB="76200" marR="76200" marL="76200">
                    <a:lnL cap="flat" cmpd="sng" w="79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EFEFEF"/>
                          </a:solidFill>
                        </a:rPr>
                        <a:t>Changing logic in one function updates it everywhere it is used, reducing mistakes from repeated code.</a:t>
                      </a:r>
                      <a:endParaRPr>
                        <a:solidFill>
                          <a:srgbClr val="EFEFEF"/>
                        </a:solidFill>
                      </a:endParaRPr>
                    </a:p>
                  </a:txBody>
                  <a:tcPr marT="76200" marB="76200" marR="76200" marL="76200">
                    <a:lnL cap="flat" cmpd="sng" w="79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2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EFEFEF"/>
                          </a:solidFill>
                        </a:rPr>
                        <a:t>Abstraction</a:t>
                      </a:r>
                      <a:endParaRPr b="1" sz="1100">
                        <a:solidFill>
                          <a:srgbClr val="EFEFEF"/>
                        </a:solidFill>
                      </a:endParaRPr>
                    </a:p>
                  </a:txBody>
                  <a:tcPr marT="76200" marB="76200" marR="76200" marL="76200">
                    <a:lnL cap="flat" cmpd="sng" w="79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EFEFEF"/>
                          </a:solidFill>
                        </a:rPr>
                        <a:t>You can use a function just by knowing what it does (interface), without worrying how it works inside.</a:t>
                      </a:r>
                      <a:endParaRPr>
                        <a:solidFill>
                          <a:srgbClr val="EFEFEF"/>
                        </a:solidFill>
                      </a:endParaRPr>
                    </a:p>
                  </a:txBody>
                  <a:tcPr marT="76200" marB="76200" marR="76200" marL="76200">
                    <a:lnL cap="flat" cmpd="sng" w="79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Avoid code repetition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Make code easy to understand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Divide big problems into small parts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Improve readability and maintenance</a:t>
            </a:r>
            <a:endParaRPr sz="22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7" name="Google Shape;177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30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Why use a function?</a:t>
            </a:r>
            <a:endParaRPr b="1" sz="4100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/>
          <p:nvPr>
            <p:ph idx="1" type="body"/>
          </p:nvPr>
        </p:nvSpPr>
        <p:spPr>
          <a:xfrm>
            <a:off x="1297500" y="1259900"/>
            <a:ext cx="7038900" cy="3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1835"/>
              <a:t>#include &lt;stdio.h&gt;</a:t>
            </a:r>
            <a:endParaRPr sz="183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835"/>
              <a:t>void greet() {</a:t>
            </a:r>
            <a:endParaRPr sz="183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835"/>
              <a:t>    printf("Hello!\n");</a:t>
            </a:r>
            <a:endParaRPr sz="183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835"/>
              <a:t>}</a:t>
            </a:r>
            <a:endParaRPr sz="183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835"/>
              <a:t>int main() {</a:t>
            </a:r>
            <a:endParaRPr sz="183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835"/>
              <a:t>    greet();  // function call</a:t>
            </a:r>
            <a:endParaRPr sz="183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835"/>
              <a:t>    return 0;</a:t>
            </a:r>
            <a:endParaRPr sz="183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835"/>
              <a:t>}</a:t>
            </a:r>
            <a:endParaRPr sz="183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t/>
            </a:r>
            <a:endParaRPr sz="912"/>
          </a:p>
        </p:txBody>
      </p:sp>
      <p:sp>
        <p:nvSpPr>
          <p:cNvPr id="183" name="Google Shape;183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31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Example of </a:t>
            </a:r>
            <a:r>
              <a:rPr b="1" lang="en" sz="31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a function?</a:t>
            </a:r>
            <a:endParaRPr b="1" sz="4200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31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What is a function? Definition?</a:t>
            </a:r>
            <a:endParaRPr b="1" sz="3100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9" name="Google Shape;189;p2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It is the actual body of the function where the work is done.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00FF00"/>
                </a:solidFill>
              </a:rPr>
              <a:t>Syntax</a:t>
            </a:r>
            <a:endParaRPr b="1" sz="2100">
              <a:solidFill>
                <a:srgbClr val="00FF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/>
              <a:t>return_type function_name(parameters) {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/>
              <a:t>    // body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/>
              <a:t>}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31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What is a function declaration?</a:t>
            </a:r>
            <a:endParaRPr b="1" sz="3100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5" name="Google Shape;195;p23"/>
          <p:cNvSpPr txBox="1"/>
          <p:nvPr>
            <p:ph idx="1" type="body"/>
          </p:nvPr>
        </p:nvSpPr>
        <p:spPr>
          <a:xfrm>
            <a:off x="1297500" y="1567550"/>
            <a:ext cx="7038900" cy="31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00FFFF"/>
                </a:solidFill>
              </a:rPr>
              <a:t>It tells the compiler:</a:t>
            </a:r>
            <a:endParaRPr b="1" sz="2100">
              <a:solidFill>
                <a:srgbClr val="00FFFF"/>
              </a:solidFill>
            </a:endParaRPr>
          </a:p>
          <a:p>
            <a:pPr indent="-331946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2100"/>
              <a:t>Function name</a:t>
            </a:r>
            <a:endParaRPr sz="2100"/>
          </a:p>
          <a:p>
            <a:pPr indent="-33194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100"/>
              <a:t>Return type</a:t>
            </a:r>
            <a:endParaRPr sz="2100"/>
          </a:p>
          <a:p>
            <a:pPr indent="-33194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100"/>
              <a:t>Parameters</a:t>
            </a:r>
            <a:endParaRPr sz="2100"/>
          </a:p>
          <a:p>
            <a:pPr indent="-33194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100"/>
              <a:t> It is written before main()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/>
              <a:t>Syntax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/>
              <a:t>return_type function_name(parameters);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31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Arguments and Parameters</a:t>
            </a:r>
            <a:endParaRPr b="1" sz="3100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1" name="Google Shape;201;p2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00FF00"/>
                </a:solidFill>
              </a:rPr>
              <a:t>Parameter</a:t>
            </a:r>
            <a:endParaRPr b="1" sz="2100">
              <a:solidFill>
                <a:srgbClr val="00FF00"/>
              </a:solidFill>
            </a:endParaRPr>
          </a:p>
          <a:p>
            <a:pPr indent="-361950" lvl="0" marL="457200" rtl="0" algn="l">
              <a:spcBef>
                <a:spcPts val="120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Variables in function definition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Receive values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00FF00"/>
                </a:solidFill>
              </a:rPr>
              <a:t>Argument</a:t>
            </a:r>
            <a:endParaRPr b="1" sz="2100">
              <a:solidFill>
                <a:srgbClr val="00FF00"/>
              </a:solidFill>
            </a:endParaRPr>
          </a:p>
          <a:p>
            <a:pPr indent="-361950" lvl="0" marL="457200" rtl="0" algn="l">
              <a:spcBef>
                <a:spcPts val="120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Actual values passed during function call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A Function with argument without return value</a:t>
            </a:r>
            <a:endParaRPr b="1" sz="3100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07" name="Google Shape;20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60250"/>
            <a:ext cx="8839202" cy="3217014"/>
          </a:xfrm>
          <a:prstGeom prst="rect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A function without argument with return value</a:t>
            </a:r>
            <a:endParaRPr b="1" sz="3100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13" name="Google Shape;21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60250"/>
            <a:ext cx="8839201" cy="3519966"/>
          </a:xfrm>
          <a:prstGeom prst="rect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7"/>
          <p:cNvSpPr txBox="1"/>
          <p:nvPr>
            <p:ph type="title"/>
          </p:nvPr>
        </p:nvSpPr>
        <p:spPr>
          <a:xfrm>
            <a:off x="1319150" y="23132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r>
              <a:rPr b="1" lang="en" sz="31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A function with argument with return value</a:t>
            </a:r>
            <a:endParaRPr b="1" sz="3100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19" name="Google Shape;21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60250"/>
            <a:ext cx="8839201" cy="3374234"/>
          </a:xfrm>
          <a:prstGeom prst="rect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Find maximum of two numbers</a:t>
            </a:r>
            <a:endParaRPr b="1" sz="3100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25" name="Google Shape;22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60250"/>
            <a:ext cx="8839201" cy="2954154"/>
          </a:xfrm>
          <a:prstGeom prst="rect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 Check even or odd</a:t>
            </a:r>
            <a:endParaRPr b="1" sz="3100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31" name="Google Shape;23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60250"/>
            <a:ext cx="8839202" cy="3262538"/>
          </a:xfrm>
          <a:prstGeom prst="rect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Area of a circle</a:t>
            </a:r>
            <a:endParaRPr b="1" sz="3100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37" name="Google Shape;23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60250"/>
            <a:ext cx="8839200" cy="3334501"/>
          </a:xfrm>
          <a:prstGeom prst="rect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Simple calculator with functions</a:t>
            </a:r>
            <a:endParaRPr b="1" sz="3100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43" name="Google Shape;24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250" y="1189550"/>
            <a:ext cx="7859150" cy="3795225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Print an array using a function</a:t>
            </a:r>
            <a:endParaRPr b="1" sz="3100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49" name="Google Shape;24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60250"/>
            <a:ext cx="8839201" cy="2938747"/>
          </a:xfrm>
          <a:prstGeom prst="rect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25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What are local variables?</a:t>
            </a:r>
            <a:endParaRPr b="1" sz="3600">
              <a:solidFill>
                <a:srgbClr val="FF9900"/>
              </a:solidFill>
            </a:endParaRPr>
          </a:p>
        </p:txBody>
      </p:sp>
      <p:sp>
        <p:nvSpPr>
          <p:cNvPr id="255" name="Google Shape;255;p3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" sz="2600"/>
              <a:t>Declared inside a function</a:t>
            </a: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" sz="2600"/>
              <a:t>Used only inside that function</a:t>
            </a: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" sz="2600"/>
              <a:t>Cannot be accessed outside</a:t>
            </a:r>
            <a:endParaRPr sz="26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6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4"/>
          <p:cNvSpPr txBox="1"/>
          <p:nvPr>
            <p:ph idx="1" type="body"/>
          </p:nvPr>
        </p:nvSpPr>
        <p:spPr>
          <a:xfrm>
            <a:off x="1160475" y="1142600"/>
            <a:ext cx="7749900" cy="30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1910"/>
              <a:t>#include &lt;stdio.h&gt;</a:t>
            </a:r>
            <a:endParaRPr sz="191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910"/>
              <a:t>void test() {</a:t>
            </a:r>
            <a:endParaRPr sz="191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910"/>
              <a:t>    int a = 10;  // local variable</a:t>
            </a:r>
            <a:endParaRPr sz="191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910"/>
              <a:t>    printf("%d\n", a);</a:t>
            </a:r>
            <a:endParaRPr sz="191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910"/>
              <a:t>}</a:t>
            </a:r>
            <a:endParaRPr sz="191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910"/>
              <a:t>int main() {</a:t>
            </a:r>
            <a:endParaRPr sz="191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910"/>
              <a:t>    test();</a:t>
            </a:r>
            <a:endParaRPr sz="191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910"/>
              <a:t>    // printf("%d", a);  // ERROR</a:t>
            </a:r>
            <a:endParaRPr sz="191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910"/>
              <a:t>}</a:t>
            </a:r>
            <a:endParaRPr sz="191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t/>
            </a:r>
            <a:endParaRPr sz="1910"/>
          </a:p>
        </p:txBody>
      </p:sp>
      <p:sp>
        <p:nvSpPr>
          <p:cNvPr id="261" name="Google Shape;261;p34"/>
          <p:cNvSpPr txBox="1"/>
          <p:nvPr>
            <p:ph type="title"/>
          </p:nvPr>
        </p:nvSpPr>
        <p:spPr>
          <a:xfrm>
            <a:off x="1340825" y="13387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25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What are local variables?</a:t>
            </a:r>
            <a:endParaRPr b="1" sz="3600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30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What are global variables?</a:t>
            </a:r>
            <a:endParaRPr b="1" sz="4100">
              <a:solidFill>
                <a:srgbClr val="FF9900"/>
              </a:solidFill>
            </a:endParaRPr>
          </a:p>
        </p:txBody>
      </p:sp>
      <p:sp>
        <p:nvSpPr>
          <p:cNvPr id="267" name="Google Shape;267;p3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Declared outside all functions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Can be used in any function</a:t>
            </a:r>
            <a:endParaRPr sz="25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6"/>
          <p:cNvSpPr txBox="1"/>
          <p:nvPr>
            <p:ph idx="1" type="body"/>
          </p:nvPr>
        </p:nvSpPr>
        <p:spPr>
          <a:xfrm>
            <a:off x="1297500" y="121020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1810"/>
              <a:t>#include &lt;stdio.h&gt;</a:t>
            </a:r>
            <a:endParaRPr sz="181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810"/>
              <a:t>int g = 5;  // global variable</a:t>
            </a:r>
            <a:endParaRPr sz="181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810"/>
              <a:t>void display() {</a:t>
            </a:r>
            <a:endParaRPr sz="181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810"/>
              <a:t>    printf("%d\n", g);</a:t>
            </a:r>
            <a:endParaRPr sz="181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810"/>
              <a:t>}</a:t>
            </a:r>
            <a:endParaRPr sz="181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810"/>
              <a:t>int main() {</a:t>
            </a:r>
            <a:endParaRPr sz="181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810"/>
              <a:t>    display();</a:t>
            </a:r>
            <a:endParaRPr sz="181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810"/>
              <a:t>    printf("%d\n", g);</a:t>
            </a:r>
            <a:endParaRPr sz="181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810"/>
              <a:t>}</a:t>
            </a:r>
            <a:endParaRPr sz="181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t/>
            </a:r>
            <a:endParaRPr sz="1810"/>
          </a:p>
        </p:txBody>
      </p:sp>
      <p:sp>
        <p:nvSpPr>
          <p:cNvPr id="273" name="Google Shape;273;p3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30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What are global variables?</a:t>
            </a:r>
            <a:endParaRPr b="1" sz="4100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725" y="1644350"/>
            <a:ext cx="8353425" cy="2952750"/>
          </a:xfrm>
          <a:prstGeom prst="rect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79" name="Google Shape;279;p3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30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Difference between local and </a:t>
            </a:r>
            <a:r>
              <a:rPr b="1" lang="en" sz="30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 global variables?</a:t>
            </a:r>
            <a:endParaRPr b="1" sz="4100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33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P</a:t>
            </a:r>
            <a:r>
              <a:rPr b="1" lang="en" sz="33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arameter Passing Mechanism</a:t>
            </a:r>
            <a:endParaRPr b="1" sz="4400">
              <a:solidFill>
                <a:srgbClr val="FF9900"/>
              </a:solidFill>
            </a:endParaRPr>
          </a:p>
        </p:txBody>
      </p:sp>
      <p:sp>
        <p:nvSpPr>
          <p:cNvPr id="285" name="Google Shape;285;p38"/>
          <p:cNvSpPr txBox="1"/>
          <p:nvPr>
            <p:ph idx="1" type="body"/>
          </p:nvPr>
        </p:nvSpPr>
        <p:spPr>
          <a:xfrm>
            <a:off x="803100" y="1584750"/>
            <a:ext cx="7969800" cy="289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In C, parameter passing mechanism refers to how values or addresses are transferred from the calling function to the called function ( means how data is sent from one function to another.)</a:t>
            </a:r>
            <a:endParaRPr sz="22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/>
              <a:t>There are two main styles:</a:t>
            </a:r>
            <a:endParaRPr sz="22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/>
              <a:t>1. Call by value (pass by value)</a:t>
            </a:r>
            <a:endParaRPr sz="22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/>
              <a:t>2. Call by reference (using pointers)</a:t>
            </a:r>
            <a:endParaRPr sz="22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31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Call by value (pass by value)</a:t>
            </a:r>
            <a:endParaRPr b="1" sz="4200">
              <a:solidFill>
                <a:srgbClr val="FF9900"/>
              </a:solidFill>
            </a:endParaRPr>
          </a:p>
        </p:txBody>
      </p:sp>
      <p:sp>
        <p:nvSpPr>
          <p:cNvPr id="291" name="Google Shape;291;p3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The function gets a copy of the value.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If the function changes the value, the original variable does not change.</a:t>
            </a:r>
            <a:endParaRPr sz="24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2400"/>
              <a:t>This is the default way in C.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60250"/>
            <a:ext cx="8839202" cy="2142341"/>
          </a:xfrm>
          <a:prstGeom prst="rect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97" name="Google Shape;297;p4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31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Call by value (pass by value)</a:t>
            </a:r>
            <a:endParaRPr b="1" sz="4200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31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Call by reference (using pointers)</a:t>
            </a:r>
            <a:endParaRPr b="1" sz="3100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3" name="Google Shape;303;p41"/>
          <p:cNvSpPr txBox="1"/>
          <p:nvPr>
            <p:ph idx="1" type="body"/>
          </p:nvPr>
        </p:nvSpPr>
        <p:spPr>
          <a:xfrm>
            <a:off x="748975" y="1567550"/>
            <a:ext cx="808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92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The function gets the address (memory location) of the variable, using a pointer.</a:t>
            </a:r>
            <a:endParaRPr sz="1900"/>
          </a:p>
          <a:p>
            <a:pPr indent="-3492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The function can change the original variable because it works on the real data</a:t>
            </a:r>
            <a:endParaRPr sz="1900"/>
          </a:p>
          <a:p>
            <a:pPr indent="0" lvl="0" marL="45720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60250"/>
            <a:ext cx="8839201" cy="2138600"/>
          </a:xfrm>
          <a:prstGeom prst="rect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09" name="Google Shape;309;p4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31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Call by reference (using pointers)</a:t>
            </a:r>
            <a:endParaRPr b="1" sz="3100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3"/>
          <p:cNvSpPr txBox="1"/>
          <p:nvPr>
            <p:ph type="title"/>
          </p:nvPr>
        </p:nvSpPr>
        <p:spPr>
          <a:xfrm>
            <a:off x="1351650" y="1663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31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Call by value (values are copied, swapping does nothing)</a:t>
            </a:r>
            <a:endParaRPr b="1" sz="3100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15" name="Google Shape;31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1438" y="1236975"/>
            <a:ext cx="7821125" cy="3577950"/>
          </a:xfrm>
          <a:prstGeom prst="rect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Call by reference (using pointers, actual values are swapped)</a:t>
            </a:r>
            <a:endParaRPr/>
          </a:p>
        </p:txBody>
      </p:sp>
      <p:pic>
        <p:nvPicPr>
          <p:cNvPr id="321" name="Google Shape;32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4400" y="1362775"/>
            <a:ext cx="7195192" cy="3530850"/>
          </a:xfrm>
          <a:prstGeom prst="rect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29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Command line arguments</a:t>
            </a:r>
            <a:endParaRPr b="1" sz="4000">
              <a:solidFill>
                <a:srgbClr val="FF9900"/>
              </a:solidFill>
            </a:endParaRPr>
          </a:p>
        </p:txBody>
      </p:sp>
      <p:sp>
        <p:nvSpPr>
          <p:cNvPr id="327" name="Google Shape;327;p45"/>
          <p:cNvSpPr txBox="1"/>
          <p:nvPr>
            <p:ph idx="1" type="body"/>
          </p:nvPr>
        </p:nvSpPr>
        <p:spPr>
          <a:xfrm>
            <a:off x="907675" y="1567550"/>
            <a:ext cx="7312800" cy="33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When starting C programming, we use scanf() for input. </a:t>
            </a:r>
            <a:endParaRPr sz="2200"/>
          </a:p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Command line arguments offer a better way—pass data right when running the program </a:t>
            </a:r>
            <a:r>
              <a:rPr lang="en" sz="2200">
                <a:solidFill>
                  <a:srgbClr val="00FF00"/>
                </a:solidFill>
              </a:rPr>
              <a:t>from the terminal. </a:t>
            </a:r>
            <a:endParaRPr sz="2200">
              <a:solidFill>
                <a:srgbClr val="00FF00"/>
              </a:solidFill>
            </a:endParaRPr>
          </a:p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This makes our code more flexible and dynamic.</a:t>
            </a:r>
            <a:endParaRPr sz="17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6"/>
          <p:cNvSpPr txBox="1"/>
          <p:nvPr>
            <p:ph idx="1" type="body"/>
          </p:nvPr>
        </p:nvSpPr>
        <p:spPr>
          <a:xfrm>
            <a:off x="532425" y="1238225"/>
            <a:ext cx="8446200" cy="29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3217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5"/>
              <a:buChar char="●"/>
            </a:pPr>
            <a:r>
              <a:rPr lang="en" sz="1804"/>
              <a:t>Command-line arguments are the values passed to a program when it is executed from the command prompt or terminal.</a:t>
            </a:r>
            <a:endParaRPr sz="1804"/>
          </a:p>
          <a:p>
            <a:pPr indent="-343217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5"/>
              <a:buChar char="●"/>
            </a:pPr>
            <a:r>
              <a:rPr lang="en" sz="1804"/>
              <a:t>These arguments appear after the program name in the command line.</a:t>
            </a:r>
            <a:endParaRPr sz="1804"/>
          </a:p>
          <a:p>
            <a:pPr indent="-343217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5"/>
              <a:buChar char="●"/>
            </a:pPr>
            <a:r>
              <a:rPr lang="en" sz="1804"/>
              <a:t>They allow the user to provide input without modifying the program code.</a:t>
            </a:r>
            <a:endParaRPr sz="1804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b="1" lang="en" sz="1804">
                <a:solidFill>
                  <a:srgbClr val="00FF00"/>
                </a:solidFill>
              </a:rPr>
              <a:t>Example</a:t>
            </a:r>
            <a:endParaRPr b="1" sz="1804">
              <a:solidFill>
                <a:srgbClr val="00FF00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1804"/>
              <a:t>./a.out file1.txt file2.txt (on terminal)</a:t>
            </a:r>
            <a:endParaRPr sz="1804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b="1" lang="en" sz="1804">
                <a:solidFill>
                  <a:srgbClr val="00FF00"/>
                </a:solidFill>
              </a:rPr>
              <a:t>Here:</a:t>
            </a:r>
            <a:endParaRPr b="1" sz="1804">
              <a:solidFill>
                <a:srgbClr val="00FF00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1804"/>
              <a:t>./a.out → Program name</a:t>
            </a:r>
            <a:endParaRPr sz="1804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1804"/>
              <a:t>file1.txt and file2.txt → Command-line arguments</a:t>
            </a:r>
            <a:endParaRPr sz="1804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804"/>
          </a:p>
        </p:txBody>
      </p:sp>
      <p:sp>
        <p:nvSpPr>
          <p:cNvPr id="333" name="Google Shape;333;p4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29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Command line arguments</a:t>
            </a:r>
            <a:endParaRPr b="1" sz="4000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Command Line Arguments in C</a:t>
            </a:r>
            <a:endParaRPr b="1" sz="3500">
              <a:solidFill>
                <a:srgbClr val="FF9900"/>
              </a:solidFill>
            </a:endParaRPr>
          </a:p>
        </p:txBody>
      </p:sp>
      <p:sp>
        <p:nvSpPr>
          <p:cNvPr id="339" name="Google Shape;339;p47"/>
          <p:cNvSpPr txBox="1"/>
          <p:nvPr>
            <p:ph idx="1" type="body"/>
          </p:nvPr>
        </p:nvSpPr>
        <p:spPr>
          <a:xfrm>
            <a:off x="467425" y="1400675"/>
            <a:ext cx="8262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FF00"/>
                </a:solidFill>
              </a:rPr>
              <a:t>Syntax</a:t>
            </a:r>
            <a:endParaRPr b="1" sz="1700">
              <a:solidFill>
                <a:srgbClr val="00FF00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The syntax of command-line arguments in C is</a:t>
            </a:r>
            <a:endParaRPr sz="17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00"/>
                </a:solidFill>
              </a:rPr>
              <a:t>int main(int argc, char *argv[])</a:t>
            </a:r>
            <a:endParaRPr b="1" sz="1700">
              <a:solidFill>
                <a:srgbClr val="FFFF00"/>
              </a:solidFill>
            </a:endParaRPr>
          </a:p>
          <a:p>
            <a:pPr indent="-342900" lvl="0" marL="457200" rtl="0" algn="just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n" sz="1800">
                <a:solidFill>
                  <a:srgbClr val="00FFFF"/>
                </a:solidFill>
              </a:rPr>
              <a:t>argc:</a:t>
            </a:r>
            <a:r>
              <a:rPr lang="en" sz="1800"/>
              <a:t> Stands for argument count. It stores the total number of arguments passed, including the program name.</a:t>
            </a:r>
            <a:endParaRPr sz="1800"/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800">
                <a:solidFill>
                  <a:srgbClr val="00FFFF"/>
                </a:solidFill>
              </a:rPr>
              <a:t>argv[</a:t>
            </a:r>
            <a:r>
              <a:rPr b="1" lang="en" sz="1700">
                <a:solidFill>
                  <a:srgbClr val="00FFFF"/>
                </a:solidFill>
              </a:rPr>
              <a:t>]</a:t>
            </a:r>
            <a:r>
              <a:rPr lang="en" sz="1700"/>
              <a:t>: Stands for argument vector. It is an array of character pointers (strings) listing all the arguments.</a:t>
            </a:r>
            <a:endParaRPr sz="1700"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60250"/>
            <a:ext cx="5038725" cy="3038475"/>
          </a:xfrm>
          <a:prstGeom prst="rect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45" name="Google Shape;345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49275" y="1360238"/>
            <a:ext cx="3124200" cy="3238500"/>
          </a:xfrm>
          <a:prstGeom prst="rect">
            <a:avLst/>
          </a:prstGeom>
          <a:noFill/>
          <a:ln cap="flat" cmpd="sng" w="9525">
            <a:solidFill>
              <a:srgbClr val="FFF2C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46" name="Google Shape;346;p4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Command Line Arguments in C</a:t>
            </a:r>
            <a:endParaRPr b="1" sz="3500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What is argc in C?</a:t>
            </a:r>
            <a:endParaRPr b="1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2" name="Google Shape;352;p49"/>
          <p:cNvSpPr txBox="1"/>
          <p:nvPr>
            <p:ph idx="1" type="body"/>
          </p:nvPr>
        </p:nvSpPr>
        <p:spPr>
          <a:xfrm>
            <a:off x="424125" y="1259925"/>
            <a:ext cx="8532900" cy="34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400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3"/>
              <a:buChar char="●"/>
            </a:pPr>
            <a:r>
              <a:rPr lang="en" sz="1502"/>
              <a:t>argc means "</a:t>
            </a:r>
            <a:r>
              <a:rPr lang="en" sz="1502">
                <a:solidFill>
                  <a:srgbClr val="FFFF00"/>
                </a:solidFill>
              </a:rPr>
              <a:t>argument count</a:t>
            </a:r>
            <a:r>
              <a:rPr lang="en" sz="1502">
                <a:solidFill>
                  <a:srgbClr val="FFFF00"/>
                </a:solidFill>
              </a:rPr>
              <a:t>.</a:t>
            </a:r>
            <a:r>
              <a:rPr lang="en" sz="1502"/>
              <a:t>"</a:t>
            </a:r>
            <a:r>
              <a:rPr lang="en" sz="1502"/>
              <a:t> </a:t>
            </a:r>
            <a:endParaRPr sz="1502"/>
          </a:p>
          <a:p>
            <a:pPr indent="-32400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3"/>
              <a:buChar char="●"/>
            </a:pPr>
            <a:r>
              <a:rPr lang="en" sz="1502"/>
              <a:t>It's an integer that automatically counts all command-line arguments passed to your C program, including the program name itself as the first one.</a:t>
            </a:r>
            <a:endParaRPr sz="1502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b="1" lang="en" sz="1502">
                <a:solidFill>
                  <a:srgbClr val="00FF00"/>
                </a:solidFill>
              </a:rPr>
              <a:t>Example:</a:t>
            </a:r>
            <a:endParaRPr sz="1502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502"/>
              <a:t>./myprogram apple banana</a:t>
            </a:r>
            <a:endParaRPr sz="1502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b="1" lang="en" sz="1502">
                <a:solidFill>
                  <a:srgbClr val="FFFF00"/>
                </a:solidFill>
              </a:rPr>
              <a:t>Here, argc</a:t>
            </a:r>
            <a:r>
              <a:rPr lang="en" sz="1502"/>
              <a:t> = 3 because:</a:t>
            </a:r>
            <a:endParaRPr sz="1502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502"/>
              <a:t>./myprogram (</a:t>
            </a:r>
            <a:r>
              <a:rPr b="1" lang="en" sz="1502">
                <a:solidFill>
                  <a:srgbClr val="FFFF00"/>
                </a:solidFill>
              </a:rPr>
              <a:t>argument 0</a:t>
            </a:r>
            <a:r>
              <a:rPr lang="en" sz="1502"/>
              <a:t> - program name)</a:t>
            </a:r>
            <a:endParaRPr sz="1502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502"/>
              <a:t>       </a:t>
            </a:r>
            <a:r>
              <a:rPr lang="en" sz="1502"/>
              <a:t>apple (</a:t>
            </a:r>
            <a:r>
              <a:rPr b="1" lang="en" sz="1502">
                <a:solidFill>
                  <a:srgbClr val="FFFF00"/>
                </a:solidFill>
              </a:rPr>
              <a:t>argument 1</a:t>
            </a:r>
            <a:r>
              <a:rPr lang="en" sz="1502"/>
              <a:t>)</a:t>
            </a:r>
            <a:endParaRPr sz="1502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502"/>
              <a:t>       </a:t>
            </a:r>
            <a:r>
              <a:rPr lang="en" sz="1502"/>
              <a:t>banana (</a:t>
            </a:r>
            <a:r>
              <a:rPr b="1" lang="en" sz="1502">
                <a:solidFill>
                  <a:srgbClr val="FFFF00"/>
                </a:solidFill>
              </a:rPr>
              <a:t>argument 2</a:t>
            </a:r>
            <a:r>
              <a:rPr lang="en" sz="1502"/>
              <a:t>)</a:t>
            </a:r>
            <a:endParaRPr sz="1502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502">
                <a:solidFill>
                  <a:srgbClr val="00FF00"/>
                </a:solidFill>
              </a:rPr>
              <a:t>Note </a:t>
            </a:r>
            <a:r>
              <a:rPr lang="en" sz="1502">
                <a:solidFill>
                  <a:srgbClr val="00FF00"/>
                </a:solidFill>
              </a:rPr>
              <a:t>: </a:t>
            </a:r>
            <a:r>
              <a:rPr lang="en" sz="1502"/>
              <a:t>argc is always ≥ 1 (even with no extra arguments, it counts the program name).</a:t>
            </a:r>
            <a:endParaRPr sz="1502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502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What is argv[] in C?</a:t>
            </a:r>
            <a:endParaRPr b="1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8" name="Google Shape;358;p50"/>
          <p:cNvSpPr txBox="1"/>
          <p:nvPr>
            <p:ph idx="1" type="body"/>
          </p:nvPr>
        </p:nvSpPr>
        <p:spPr>
          <a:xfrm>
            <a:off x="680300" y="1545900"/>
            <a:ext cx="80817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argv[] means "argument vector." 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It's an array of strings that holds each command-line argument.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FF00"/>
                </a:solidFill>
              </a:rPr>
              <a:t>How it works:</a:t>
            </a:r>
            <a:endParaRPr sz="1600">
              <a:solidFill>
                <a:srgbClr val="00FF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00"/>
                </a:solidFill>
              </a:rPr>
              <a:t>argv[0] </a:t>
            </a:r>
            <a:r>
              <a:rPr lang="en" sz="1600"/>
              <a:t>= Program name (e.g., "./myprogram")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00"/>
                </a:solidFill>
              </a:rPr>
              <a:t>argv[1] </a:t>
            </a:r>
            <a:r>
              <a:rPr lang="en" sz="1600"/>
              <a:t>= First argument (e.g., "apple")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00"/>
                </a:solidFill>
              </a:rPr>
              <a:t>argv[2] =</a:t>
            </a:r>
            <a:r>
              <a:rPr lang="en" sz="1600"/>
              <a:t> Second argument (e.g., "banana")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FF00"/>
                </a:solidFill>
              </a:rPr>
              <a:t>Note</a:t>
            </a:r>
            <a:r>
              <a:rPr b="1" lang="en" sz="1600">
                <a:solidFill>
                  <a:srgbClr val="B7B7B7"/>
                </a:solidFill>
              </a:rPr>
              <a:t>:</a:t>
            </a:r>
            <a:r>
              <a:rPr lang="en" sz="1600"/>
              <a:t> </a:t>
            </a:r>
            <a:r>
              <a:rPr lang="en" sz="1600"/>
              <a:t> All arguments are stored as strings (even numbers like "123"). Use atoi() to convert numbers.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Example:</a:t>
            </a:r>
            <a:endParaRPr sz="21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FFFF00"/>
                </a:solidFill>
              </a:rPr>
              <a:t>./myprogram apple 123</a:t>
            </a:r>
            <a:endParaRPr b="1" sz="2100">
              <a:solidFill>
                <a:srgbClr val="FFFF00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00FFFF"/>
                </a:solidFill>
              </a:rPr>
              <a:t>argv[0] =</a:t>
            </a:r>
            <a:r>
              <a:rPr lang="en" sz="2100"/>
              <a:t> "./myprogram"</a:t>
            </a:r>
            <a:endParaRPr sz="21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00FFFF"/>
                </a:solidFill>
              </a:rPr>
              <a:t>argv[1] </a:t>
            </a:r>
            <a:r>
              <a:rPr lang="en" sz="2100"/>
              <a:t>= "apple"  </a:t>
            </a:r>
            <a:endParaRPr sz="21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00FFFF"/>
                </a:solidFill>
              </a:rPr>
              <a:t>argv[2] </a:t>
            </a:r>
            <a:r>
              <a:rPr lang="en" sz="2100"/>
              <a:t>= "123"</a:t>
            </a:r>
            <a:endParaRPr sz="21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364" name="Google Shape;364;p5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What is argv[] in C?</a:t>
            </a:r>
            <a:endParaRPr b="1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How to Compile &amp; Run C Program with Command Line Arguments</a:t>
            </a:r>
            <a:endParaRPr/>
          </a:p>
        </p:txBody>
      </p:sp>
      <p:sp>
        <p:nvSpPr>
          <p:cNvPr id="370" name="Google Shape;370;p52"/>
          <p:cNvSpPr txBox="1"/>
          <p:nvPr>
            <p:ph idx="1" type="body"/>
          </p:nvPr>
        </p:nvSpPr>
        <p:spPr>
          <a:xfrm>
            <a:off x="911400" y="1541450"/>
            <a:ext cx="7425000" cy="293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b="1" lang="en" sz="1710">
                <a:solidFill>
                  <a:srgbClr val="00FF00"/>
                </a:solidFill>
              </a:rPr>
              <a:t>Step 1: Write your C program</a:t>
            </a:r>
            <a:endParaRPr b="1" sz="1710">
              <a:solidFill>
                <a:srgbClr val="00FF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710"/>
              <a:t>Suppose we save it as </a:t>
            </a:r>
            <a:r>
              <a:rPr lang="en" sz="1710">
                <a:solidFill>
                  <a:srgbClr val="FFFF00"/>
                </a:solidFill>
              </a:rPr>
              <a:t> argsdemo.c</a:t>
            </a:r>
            <a:r>
              <a:rPr lang="en" sz="1710"/>
              <a:t>:</a:t>
            </a:r>
            <a:endParaRPr sz="171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610"/>
              <a:t>#include &lt;stdio.h&gt;</a:t>
            </a:r>
            <a:endParaRPr sz="161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610"/>
              <a:t>int main(int argc, char *argv[]) {</a:t>
            </a:r>
            <a:endParaRPr sz="161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610"/>
              <a:t>    for(int i = 0; i &lt; argc; i++) {</a:t>
            </a:r>
            <a:endParaRPr sz="161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610"/>
              <a:t>        printf("Argument %d: %s\n", i, argv[i]);</a:t>
            </a:r>
            <a:endParaRPr sz="161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610"/>
              <a:t>    }</a:t>
            </a:r>
            <a:endParaRPr sz="161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610"/>
              <a:t>    return 0;</a:t>
            </a:r>
            <a:endParaRPr sz="161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610"/>
              <a:t>}</a:t>
            </a:r>
            <a:endParaRPr sz="161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t/>
            </a:r>
            <a:endParaRPr sz="161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00FF00"/>
                </a:solidFill>
              </a:rPr>
              <a:t>Step 2: Compile using GCC</a:t>
            </a:r>
            <a:endParaRPr b="1" sz="2100">
              <a:solidFill>
                <a:srgbClr val="00FF00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FFFFFF"/>
                </a:solidFill>
              </a:rPr>
              <a:t>Open terminal and type:</a:t>
            </a:r>
            <a:endParaRPr b="1" sz="2100">
              <a:solidFill>
                <a:srgbClr val="FFFFFF"/>
              </a:solidFill>
            </a:endParaRPr>
          </a:p>
          <a:p>
            <a:pPr indent="-36195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100"/>
              <a:buChar char="●"/>
            </a:pPr>
            <a:r>
              <a:rPr b="1" lang="en" sz="2100">
                <a:solidFill>
                  <a:srgbClr val="FFFFFF"/>
                </a:solidFill>
              </a:rPr>
              <a:t>gcc argsdemo.c -o argsdemo</a:t>
            </a:r>
            <a:endParaRPr b="1" sz="2100">
              <a:solidFill>
                <a:srgbClr val="FFFFFF"/>
              </a:solidFill>
            </a:endParaRPr>
          </a:p>
          <a:p>
            <a:pPr indent="-361950" lvl="0" marL="97155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Char char="●"/>
            </a:pPr>
            <a:r>
              <a:rPr b="1" lang="en" sz="2100">
                <a:solidFill>
                  <a:srgbClr val="FFFFFF"/>
                </a:solidFill>
              </a:rPr>
              <a:t>gcc = compiler</a:t>
            </a:r>
            <a:endParaRPr b="1" sz="2100">
              <a:solidFill>
                <a:srgbClr val="FFFFFF"/>
              </a:solidFill>
            </a:endParaRPr>
          </a:p>
          <a:p>
            <a:pPr indent="-361950" lvl="0" marL="97155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Char char="●"/>
            </a:pPr>
            <a:r>
              <a:rPr b="1" lang="en" sz="2100">
                <a:solidFill>
                  <a:srgbClr val="FFFFFF"/>
                </a:solidFill>
              </a:rPr>
              <a:t>-o argsdemo = output file name</a:t>
            </a:r>
            <a:endParaRPr b="1" sz="21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100">
              <a:solidFill>
                <a:srgbClr val="FFFFFF"/>
              </a:solidFill>
            </a:endParaRPr>
          </a:p>
        </p:txBody>
      </p:sp>
      <p:sp>
        <p:nvSpPr>
          <p:cNvPr id="376" name="Google Shape;376;p5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How to Compile &amp; Run C Program with Command Line Arguments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4"/>
          <p:cNvSpPr txBox="1"/>
          <p:nvPr>
            <p:ph idx="1" type="body"/>
          </p:nvPr>
        </p:nvSpPr>
        <p:spPr>
          <a:xfrm>
            <a:off x="1297500" y="1567550"/>
            <a:ext cx="3880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00FF00"/>
                </a:solidFill>
              </a:rPr>
              <a:t>Step 3: Run with arguments</a:t>
            </a:r>
            <a:endParaRPr b="1" sz="1900">
              <a:solidFill>
                <a:srgbClr val="00FF00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FFFF00"/>
                </a:solidFill>
              </a:rPr>
              <a:t>Linux/macOS:</a:t>
            </a:r>
            <a:endParaRPr sz="19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/>
              <a:t>./argsdemo apple mango banana</a:t>
            </a:r>
            <a:endParaRPr sz="19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FFFF00"/>
                </a:solidFill>
              </a:rPr>
              <a:t>Windows:</a:t>
            </a:r>
            <a:endParaRPr sz="19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/>
              <a:t>argsdemo.exe apple mango banana</a:t>
            </a:r>
            <a:endParaRPr sz="19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382" name="Google Shape;382;p5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How to Compile &amp; Run C Program with Command Line Arguments</a:t>
            </a:r>
            <a:endParaRPr/>
          </a:p>
        </p:txBody>
      </p:sp>
      <p:sp>
        <p:nvSpPr>
          <p:cNvPr id="383" name="Google Shape;383;p54"/>
          <p:cNvSpPr txBox="1"/>
          <p:nvPr/>
        </p:nvSpPr>
        <p:spPr>
          <a:xfrm>
            <a:off x="5435850" y="1624250"/>
            <a:ext cx="3000000" cy="2027700"/>
          </a:xfrm>
          <a:prstGeom prst="rect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2F2F2"/>
                </a:solidFill>
                <a:latin typeface="Georgia"/>
                <a:ea typeface="Georgia"/>
                <a:cs typeface="Georgia"/>
                <a:sym typeface="Georgia"/>
              </a:rPr>
              <a:t>Output:</a:t>
            </a:r>
            <a:endParaRPr sz="1200">
              <a:solidFill>
                <a:srgbClr val="F2F2F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2F2F2"/>
                </a:solidFill>
                <a:latin typeface="Roboto Mono"/>
                <a:ea typeface="Roboto Mono"/>
                <a:cs typeface="Roboto Mono"/>
                <a:sym typeface="Roboto Mono"/>
              </a:rPr>
              <a:t>Argument 0: ./argsdemo</a:t>
            </a:r>
            <a:endParaRPr sz="1200">
              <a:solidFill>
                <a:srgbClr val="F2F2F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2F2F2"/>
                </a:solidFill>
                <a:latin typeface="Roboto Mono"/>
                <a:ea typeface="Roboto Mono"/>
                <a:cs typeface="Roboto Mono"/>
                <a:sym typeface="Roboto Mono"/>
              </a:rPr>
              <a:t>Argument 1: apple</a:t>
            </a:r>
            <a:endParaRPr sz="1200">
              <a:solidFill>
                <a:srgbClr val="F2F2F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2F2F2"/>
                </a:solidFill>
                <a:latin typeface="Roboto Mono"/>
                <a:ea typeface="Roboto Mono"/>
                <a:cs typeface="Roboto Mono"/>
                <a:sym typeface="Roboto Mono"/>
              </a:rPr>
              <a:t>Argument 2: mango</a:t>
            </a:r>
            <a:endParaRPr sz="1200">
              <a:solidFill>
                <a:srgbClr val="F2F2F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2F2F2"/>
                </a:solidFill>
                <a:latin typeface="Roboto Mono"/>
                <a:ea typeface="Roboto Mono"/>
                <a:cs typeface="Roboto Mono"/>
                <a:sym typeface="Roboto Mono"/>
              </a:rPr>
              <a:t>Argument 3: banana</a:t>
            </a:r>
            <a:endParaRPr sz="1200">
              <a:solidFill>
                <a:srgbClr val="F2F2F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2F2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2F2F2"/>
                </a:solidFill>
                <a:latin typeface="Georgia"/>
                <a:ea typeface="Georgia"/>
                <a:cs typeface="Georgia"/>
                <a:sym typeface="Georgia"/>
              </a:rPr>
              <a:t>Note: Argument 0 is always the program name itself!</a:t>
            </a:r>
            <a:endParaRPr sz="1200">
              <a:solidFill>
                <a:srgbClr val="F2F2F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8" name="Google Shape;388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225" y="131525"/>
            <a:ext cx="7905725" cy="488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Storage</a:t>
            </a:r>
            <a:r>
              <a:rPr b="1" lang="en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 Classes</a:t>
            </a:r>
            <a:endParaRPr b="1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4" name="Google Shape;394;p56"/>
          <p:cNvSpPr txBox="1"/>
          <p:nvPr>
            <p:ph idx="1" type="body"/>
          </p:nvPr>
        </p:nvSpPr>
        <p:spPr>
          <a:xfrm>
            <a:off x="1297500" y="13078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In C variables act differently depending on </a:t>
            </a:r>
            <a:r>
              <a:rPr lang="en" sz="2100">
                <a:solidFill>
                  <a:srgbClr val="00FF00"/>
                </a:solidFill>
              </a:rPr>
              <a:t>where and how you declare </a:t>
            </a:r>
            <a:r>
              <a:rPr lang="en" sz="2100"/>
              <a:t>them. </a:t>
            </a:r>
            <a:endParaRPr sz="2100"/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2100"/>
              <a:t>This is controlled by storage classes, which decide a variable's scope (</a:t>
            </a:r>
            <a:r>
              <a:rPr b="1" lang="en" sz="2100">
                <a:solidFill>
                  <a:srgbClr val="FFFF00"/>
                </a:solidFill>
              </a:rPr>
              <a:t>where it's visible</a:t>
            </a:r>
            <a:r>
              <a:rPr lang="en" sz="2100"/>
              <a:t>), lifetime (</a:t>
            </a:r>
            <a:r>
              <a:rPr b="1" lang="en" sz="2100">
                <a:solidFill>
                  <a:srgbClr val="FFFF00"/>
                </a:solidFill>
              </a:rPr>
              <a:t>how long it lasts</a:t>
            </a:r>
            <a:r>
              <a:rPr lang="en" sz="2100"/>
              <a:t>), visibility, and memory spot</a:t>
            </a:r>
            <a:r>
              <a:rPr lang="en" sz="1800"/>
              <a:t>.</a:t>
            </a:r>
            <a:endParaRPr sz="18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5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n" sz="1900">
                <a:solidFill>
                  <a:srgbClr val="FFFF00"/>
                </a:solidFill>
              </a:rPr>
              <a:t>Scope</a:t>
            </a:r>
            <a:r>
              <a:rPr lang="en" sz="1900"/>
              <a:t>: Where you can use the variable.</a:t>
            </a:r>
            <a:endParaRPr sz="1900"/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n" sz="1900">
                <a:solidFill>
                  <a:srgbClr val="FFFF00"/>
                </a:solidFill>
              </a:rPr>
              <a:t>Lifetime</a:t>
            </a:r>
            <a:r>
              <a:rPr lang="en" sz="1900"/>
              <a:t>: How long the variable stays in memory.</a:t>
            </a:r>
            <a:endParaRPr sz="1900"/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n" sz="1900">
                <a:solidFill>
                  <a:srgbClr val="FFFF00"/>
                </a:solidFill>
              </a:rPr>
              <a:t>Storage location</a:t>
            </a:r>
            <a:r>
              <a:rPr lang="en" sz="1900"/>
              <a:t>: Where the variable is kept in memory.</a:t>
            </a:r>
            <a:endParaRPr sz="1900"/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n" sz="1900">
                <a:solidFill>
                  <a:srgbClr val="FFFF00"/>
                </a:solidFill>
              </a:rPr>
              <a:t>Default initial value</a:t>
            </a:r>
            <a:r>
              <a:rPr lang="en" sz="1900"/>
              <a:t>: What value it gets if you don't set one.</a:t>
            </a:r>
            <a:endParaRPr sz="1900"/>
          </a:p>
        </p:txBody>
      </p:sp>
      <p:sp>
        <p:nvSpPr>
          <p:cNvPr id="400" name="Google Shape;400;p5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Storage Classes</a:t>
            </a:r>
            <a:endParaRPr b="1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What Are Storage Classes in C?</a:t>
            </a:r>
            <a:endParaRPr b="1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6" name="Google Shape;406;p58"/>
          <p:cNvSpPr txBox="1"/>
          <p:nvPr>
            <p:ph idx="1" type="body"/>
          </p:nvPr>
        </p:nvSpPr>
        <p:spPr>
          <a:xfrm>
            <a:off x="1197750" y="1189500"/>
            <a:ext cx="7138800" cy="29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604">
                <a:solidFill>
                  <a:srgbClr val="00FF00"/>
                </a:solidFill>
              </a:rPr>
              <a:t>A storage class in C controls:</a:t>
            </a:r>
            <a:endParaRPr sz="1604">
              <a:solidFill>
                <a:srgbClr val="00FF00"/>
              </a:solidFill>
            </a:endParaRPr>
          </a:p>
          <a:p>
            <a:pPr indent="-330517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605"/>
              <a:buChar char="●"/>
            </a:pPr>
            <a:r>
              <a:rPr lang="en" sz="1604"/>
              <a:t>Where a variable is stored in memory.</a:t>
            </a:r>
            <a:endParaRPr sz="1604"/>
          </a:p>
          <a:p>
            <a:pPr indent="-33051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5"/>
              <a:buChar char="●"/>
            </a:pPr>
            <a:r>
              <a:rPr lang="en" sz="1604"/>
              <a:t>Its scope (where you can see/use it).</a:t>
            </a:r>
            <a:endParaRPr sz="1604"/>
          </a:p>
          <a:p>
            <a:pPr indent="-33051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5"/>
              <a:buChar char="●"/>
            </a:pPr>
            <a:r>
              <a:rPr lang="en" sz="1604"/>
              <a:t>Its lifetime (how long it lasts).</a:t>
            </a:r>
            <a:endParaRPr sz="1604"/>
          </a:p>
          <a:p>
            <a:pPr indent="-33051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5"/>
              <a:buChar char="●"/>
            </a:pPr>
            <a:r>
              <a:rPr lang="en" sz="1604"/>
              <a:t>How you access it in the program.</a:t>
            </a:r>
            <a:endParaRPr sz="1604"/>
          </a:p>
          <a:p>
            <a:pPr indent="-33051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5"/>
              <a:buChar char="●"/>
            </a:pPr>
            <a:r>
              <a:rPr lang="en" sz="1604"/>
              <a:t>It decides if a variable is local/global, keeps its value between function calls, or lives in RAM/CPU register.</a:t>
            </a:r>
            <a:endParaRPr sz="1604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b="1" lang="en" sz="1604">
                <a:solidFill>
                  <a:srgbClr val="00FF00"/>
                </a:solidFill>
              </a:rPr>
              <a:t>Analogy: </a:t>
            </a:r>
            <a:r>
              <a:rPr lang="en" sz="1604"/>
              <a:t>Like worker roles—some are temporary (auto), some keep daily tasks (static), some are quick-access (register), some share across teams (extern).</a:t>
            </a:r>
            <a:endParaRPr sz="1604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604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Types of Storage Classes in C</a:t>
            </a:r>
            <a:endParaRPr b="1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2" name="Google Shape;412;p5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There are 4 types of storage classes in C programming:</a:t>
            </a:r>
            <a:endParaRPr sz="1900"/>
          </a:p>
          <a:p>
            <a:pPr indent="-3492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900"/>
              <a:buChar char="●"/>
            </a:pPr>
            <a:r>
              <a:rPr lang="en" sz="1900">
                <a:solidFill>
                  <a:srgbClr val="00FF00"/>
                </a:solidFill>
              </a:rPr>
              <a:t>auto </a:t>
            </a:r>
            <a:r>
              <a:rPr lang="en" sz="1900"/>
              <a:t>for temporary local variables.</a:t>
            </a:r>
            <a:endParaRPr sz="1900"/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>
                <a:solidFill>
                  <a:srgbClr val="00FF00"/>
                </a:solidFill>
              </a:rPr>
              <a:t>register</a:t>
            </a:r>
            <a:r>
              <a:rPr lang="en" sz="1900"/>
              <a:t> for high-speed variables stored in CPU registers.</a:t>
            </a:r>
            <a:endParaRPr sz="1900"/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>
                <a:solidFill>
                  <a:srgbClr val="00FF00"/>
                </a:solidFill>
              </a:rPr>
              <a:t>static </a:t>
            </a:r>
            <a:r>
              <a:rPr lang="en" sz="1900"/>
              <a:t>for persistent local or global variables.</a:t>
            </a:r>
            <a:endParaRPr sz="1900"/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>
                <a:solidFill>
                  <a:srgbClr val="00FF00"/>
                </a:solidFill>
              </a:rPr>
              <a:t>extern</a:t>
            </a:r>
            <a:r>
              <a:rPr lang="en" sz="1900"/>
              <a:t> for sharing global variables across multiple files.</a:t>
            </a:r>
            <a:endParaRPr sz="19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6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Auto Storage Class in C</a:t>
            </a:r>
            <a:endParaRPr b="1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8" name="Google Shape;418;p6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auto is the default for local variables inside functions. </a:t>
            </a:r>
            <a:endParaRPr sz="2000"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" sz="2000">
                <a:solidFill>
                  <a:srgbClr val="00FF00"/>
                </a:solidFill>
              </a:rPr>
              <a:t>Scope:</a:t>
            </a:r>
            <a:r>
              <a:rPr lang="en" sz="2000"/>
              <a:t> Only inside that block/function.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>
                <a:solidFill>
                  <a:srgbClr val="00FF00"/>
                </a:solidFill>
              </a:rPr>
              <a:t>Lifetime:</a:t>
            </a:r>
            <a:r>
              <a:rPr lang="en" sz="2000"/>
              <a:t> Born when function starts; dies when it ends.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>
                <a:solidFill>
                  <a:srgbClr val="00FF00"/>
                </a:solidFill>
              </a:rPr>
              <a:t>Memory:</a:t>
            </a:r>
            <a:r>
              <a:rPr lang="en" sz="2000"/>
              <a:t> Stored in RAM.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61"/>
          <p:cNvSpPr txBox="1"/>
          <p:nvPr>
            <p:ph idx="1" type="body"/>
          </p:nvPr>
        </p:nvSpPr>
        <p:spPr>
          <a:xfrm>
            <a:off x="493525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#include&lt;stdio.h&gt;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/>
              <a:t>int main()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/>
              <a:t>{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/>
              <a:t>  auto int age = 23;  // same as : int age = 23;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/>
              <a:t>  printf("%d",age);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/>
              <a:t>}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424" name="Google Shape;424;p61"/>
          <p:cNvSpPr txBox="1"/>
          <p:nvPr/>
        </p:nvSpPr>
        <p:spPr>
          <a:xfrm>
            <a:off x="5611100" y="1515575"/>
            <a:ext cx="3379200" cy="2986200"/>
          </a:xfrm>
          <a:prstGeom prst="rect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>
                <a:solidFill>
                  <a:schemeClr val="lt1"/>
                </a:solidFill>
              </a:rPr>
              <a:t>auto is the default for local variables in functions/blocks. 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>
                <a:solidFill>
                  <a:schemeClr val="lt1"/>
                </a:solidFill>
              </a:rPr>
              <a:t>You rarely type auto—it's automatic.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>
                <a:solidFill>
                  <a:schemeClr val="lt1"/>
                </a:solidFill>
              </a:rPr>
              <a:t>Variables are created when the function starts and deleted when it ends. 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>
                <a:solidFill>
                  <a:schemeClr val="lt1"/>
                </a:solidFill>
              </a:rPr>
              <a:t>Values don't stick around between calls.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25" name="Google Shape;425;p61"/>
          <p:cNvSpPr txBox="1"/>
          <p:nvPr>
            <p:ph type="title"/>
          </p:nvPr>
        </p:nvSpPr>
        <p:spPr>
          <a:xfrm>
            <a:off x="1153175" y="125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Auto Storage Class in C</a:t>
            </a:r>
            <a:endParaRPr b="1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6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Register Storage Class in C</a:t>
            </a:r>
            <a:endParaRPr b="1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1" name="Google Shape;431;p62"/>
          <p:cNvSpPr txBox="1"/>
          <p:nvPr>
            <p:ph idx="1" type="body"/>
          </p:nvPr>
        </p:nvSpPr>
        <p:spPr>
          <a:xfrm>
            <a:off x="888525" y="1385350"/>
            <a:ext cx="8050200" cy="309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R</a:t>
            </a:r>
            <a:r>
              <a:rPr lang="en" sz="2000"/>
              <a:t>egister hints to the compiler: "Put this variable in a fast CPU register, not regular memory." Speeds up frequent access.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FF00"/>
                </a:solidFill>
              </a:rPr>
              <a:t>Scope:</a:t>
            </a:r>
            <a:r>
              <a:rPr lang="en" sz="2000"/>
              <a:t> Only in its block/function.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FF00"/>
                </a:solidFill>
              </a:rPr>
              <a:t>Lifetime</a:t>
            </a:r>
            <a:r>
              <a:rPr lang="en" sz="2000"/>
              <a:t>: Starts with function; ends with it.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FF00"/>
                </a:solidFill>
              </a:rPr>
              <a:t>Memory</a:t>
            </a:r>
            <a:r>
              <a:rPr lang="en" sz="2000"/>
              <a:t>: CPU register (if possible), else RAM.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63"/>
          <p:cNvSpPr txBox="1"/>
          <p:nvPr>
            <p:ph idx="1" type="body"/>
          </p:nvPr>
        </p:nvSpPr>
        <p:spPr>
          <a:xfrm>
            <a:off x="668725" y="1567550"/>
            <a:ext cx="25494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#include&lt;stdio.h&gt;</a:t>
            </a:r>
            <a:endParaRPr sz="17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int main()</a:t>
            </a:r>
            <a:endParaRPr sz="17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{</a:t>
            </a:r>
            <a:endParaRPr sz="17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  register int count = 0;</a:t>
            </a:r>
            <a:endParaRPr sz="17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  printf("%d",count);</a:t>
            </a:r>
            <a:endParaRPr sz="17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}</a:t>
            </a:r>
            <a:endParaRPr sz="17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437" name="Google Shape;437;p63"/>
          <p:cNvSpPr txBox="1"/>
          <p:nvPr/>
        </p:nvSpPr>
        <p:spPr>
          <a:xfrm>
            <a:off x="4471250" y="1567550"/>
            <a:ext cx="4209900" cy="26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</a:pPr>
            <a:r>
              <a:rPr lang="en" sz="1900">
                <a:solidFill>
                  <a:schemeClr val="lt1"/>
                </a:solidFill>
              </a:rPr>
              <a:t>register: Hints compiler to use fast CPU register for quick access (e.g., loop counters). </a:t>
            </a:r>
            <a:endParaRPr sz="1900">
              <a:solidFill>
                <a:schemeClr val="lt1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</a:pPr>
            <a:r>
              <a:rPr lang="en" sz="1900">
                <a:solidFill>
                  <a:schemeClr val="lt1"/>
                </a:solidFill>
              </a:rPr>
              <a:t>It's just a suggestion—may use RAM instead. </a:t>
            </a:r>
            <a:endParaRPr sz="1900">
              <a:solidFill>
                <a:schemeClr val="lt1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</a:pPr>
            <a:r>
              <a:rPr lang="en" sz="1900">
                <a:solidFill>
                  <a:schemeClr val="lt1"/>
                </a:solidFill>
              </a:rPr>
              <a:t>Can't get its address with &amp;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438" name="Google Shape;438;p6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Register Storage Class in C</a:t>
            </a:r>
            <a:endParaRPr b="1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6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Static Storage Class in C</a:t>
            </a:r>
            <a:endParaRPr b="1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4" name="Google Shape;444;p64"/>
          <p:cNvSpPr txBox="1"/>
          <p:nvPr>
            <p:ph idx="1" type="body"/>
          </p:nvPr>
        </p:nvSpPr>
        <p:spPr>
          <a:xfrm>
            <a:off x="1297500" y="1567550"/>
            <a:ext cx="75897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static keeps a variable's value between function calls—it doesn't get destroyed when the function ends.</a:t>
            </a:r>
            <a:endParaRPr sz="2000"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b="1" lang="en" sz="2000">
                <a:solidFill>
                  <a:srgbClr val="00FF00"/>
                </a:solidFill>
              </a:rPr>
              <a:t>Scope</a:t>
            </a:r>
            <a:r>
              <a:rPr lang="en" sz="2000"/>
              <a:t>: Local (inside function) or global (outside).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>
                <a:solidFill>
                  <a:srgbClr val="00FF00"/>
                </a:solidFill>
              </a:rPr>
              <a:t>Lifetime</a:t>
            </a:r>
            <a:r>
              <a:rPr lang="en" sz="2000"/>
              <a:t>: Whole program run.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>
                <a:solidFill>
                  <a:srgbClr val="00FF00"/>
                </a:solidFill>
              </a:rPr>
              <a:t>Memory</a:t>
            </a:r>
            <a:r>
              <a:rPr lang="en" sz="2000"/>
              <a:t>: RAM.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60250"/>
            <a:ext cx="8647591" cy="3530850"/>
          </a:xfrm>
          <a:prstGeom prst="rect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50" name="Google Shape;450;p6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Static Storage Class in C</a:t>
            </a:r>
            <a:endParaRPr b="1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6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Static Variables in C</a:t>
            </a:r>
            <a:endParaRPr b="1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6" name="Google Shape;456;p66"/>
          <p:cNvSpPr txBox="1"/>
          <p:nvPr>
            <p:ph idx="1" type="body"/>
          </p:nvPr>
        </p:nvSpPr>
        <p:spPr>
          <a:xfrm>
            <a:off x="857600" y="1467800"/>
            <a:ext cx="7478700" cy="30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The static keyword makes variables behave specially:</a:t>
            </a:r>
            <a:endParaRPr sz="1700"/>
          </a:p>
          <a:p>
            <a:pPr indent="-3365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For </a:t>
            </a:r>
            <a:r>
              <a:rPr b="1" lang="en" sz="1700">
                <a:solidFill>
                  <a:srgbClr val="00FF00"/>
                </a:solidFill>
              </a:rPr>
              <a:t>local variables (inside functions)</a:t>
            </a:r>
            <a:r>
              <a:rPr lang="en" sz="1700"/>
              <a:t>:</a:t>
            </a:r>
            <a:endParaRPr sz="1700"/>
          </a:p>
          <a:p>
            <a:pPr indent="-336550" lvl="0" marL="1257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Retains value between function calls.</a:t>
            </a:r>
            <a:endParaRPr sz="1700"/>
          </a:p>
          <a:p>
            <a:pPr indent="-336550" lvl="0" marL="1257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Initialized only once (at program start), not each call.</a:t>
            </a:r>
            <a:endParaRPr sz="170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For </a:t>
            </a:r>
            <a:r>
              <a:rPr b="1" lang="en" sz="1700">
                <a:solidFill>
                  <a:srgbClr val="00FF00"/>
                </a:solidFill>
              </a:rPr>
              <a:t>global variables (outside functions):</a:t>
            </a:r>
            <a:endParaRPr b="1" sz="1700">
              <a:solidFill>
                <a:srgbClr val="00FF00"/>
              </a:solidFill>
            </a:endParaRPr>
          </a:p>
          <a:p>
            <a:pPr indent="-336550" lvl="0" marL="1257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Limits scope to this file only—other files can't access it.</a:t>
            </a:r>
            <a:endParaRPr sz="17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6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Extern Storage Class in C</a:t>
            </a:r>
            <a:endParaRPr b="1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2" name="Google Shape;462;p6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extern shares global variables across multiple files.</a:t>
            </a:r>
            <a:endParaRPr sz="2100"/>
          </a:p>
          <a:p>
            <a:pPr indent="-3619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100"/>
              <a:buChar char="●"/>
            </a:pPr>
            <a:r>
              <a:rPr b="1" lang="en" sz="2100">
                <a:solidFill>
                  <a:srgbClr val="00FF00"/>
                </a:solidFill>
              </a:rPr>
              <a:t>Scope</a:t>
            </a:r>
            <a:r>
              <a:rPr lang="en" sz="2100"/>
              <a:t>: Global—accessible from any file.</a:t>
            </a:r>
            <a:endParaRPr sz="2100"/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lang="en" sz="2100">
                <a:solidFill>
                  <a:srgbClr val="00FF00"/>
                </a:solidFill>
              </a:rPr>
              <a:t>Lifetime:</a:t>
            </a:r>
            <a:r>
              <a:rPr lang="en" sz="2100"/>
              <a:t> Entire program run.</a:t>
            </a:r>
            <a:endParaRPr sz="2100"/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lang="en" sz="2100">
                <a:solidFill>
                  <a:srgbClr val="00FF00"/>
                </a:solidFill>
              </a:rPr>
              <a:t>Memory:</a:t>
            </a:r>
            <a:r>
              <a:rPr lang="en" sz="2100"/>
              <a:t> RAM.</a:t>
            </a:r>
            <a:endParaRPr sz="21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68"/>
          <p:cNvSpPr txBox="1"/>
          <p:nvPr>
            <p:ph idx="1" type="body"/>
          </p:nvPr>
        </p:nvSpPr>
        <p:spPr>
          <a:xfrm>
            <a:off x="176700" y="1388075"/>
            <a:ext cx="2639400" cy="3491700"/>
          </a:xfrm>
          <a:prstGeom prst="rect">
            <a:avLst/>
          </a:prstGeom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#include &lt;stdio.h&gt;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// Global variable definition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int count = 10;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void display()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{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printf("Count = %d\n", count);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}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68"/>
          <p:cNvSpPr txBox="1"/>
          <p:nvPr/>
        </p:nvSpPr>
        <p:spPr>
          <a:xfrm>
            <a:off x="5448150" y="1140900"/>
            <a:ext cx="3000000" cy="3632700"/>
          </a:xfrm>
          <a:prstGeom prst="rect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#include &lt;stdio.h&gt;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// extern declaration (no memory allocation)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extern int count;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// Function declaration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void display();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int main()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{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    printf("Count in main = %d\n", count);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    display();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    return 0;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}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69" name="Google Shape;469;p68"/>
          <p:cNvSpPr txBox="1"/>
          <p:nvPr/>
        </p:nvSpPr>
        <p:spPr>
          <a:xfrm>
            <a:off x="3206625" y="3660425"/>
            <a:ext cx="1851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Count in main = 10</a:t>
            </a:r>
            <a:endParaRPr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Count = 10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470" name="Google Shape;470;p68"/>
          <p:cNvSpPr txBox="1"/>
          <p:nvPr>
            <p:ph type="title"/>
          </p:nvPr>
        </p:nvSpPr>
        <p:spPr>
          <a:xfrm>
            <a:off x="1225350" y="1154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Extern Storage Class in C</a:t>
            </a:r>
            <a:endParaRPr b="1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71" name="Google Shape;471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4838" y="2920084"/>
            <a:ext cx="2194575" cy="42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89475" y="900550"/>
            <a:ext cx="828675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48100" y="677125"/>
            <a:ext cx="800100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68"/>
          <p:cNvSpPr txBox="1"/>
          <p:nvPr/>
        </p:nvSpPr>
        <p:spPr>
          <a:xfrm>
            <a:off x="3034875" y="750400"/>
            <a:ext cx="2194500" cy="1108200"/>
          </a:xfrm>
          <a:prstGeom prst="rect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00"/>
                </a:solidFill>
              </a:rPr>
              <a:t>extern int count;</a:t>
            </a:r>
            <a:endParaRPr sz="12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00"/>
                </a:solidFill>
              </a:rPr>
              <a:t>This tells the compiler:</a:t>
            </a:r>
            <a:endParaRPr sz="12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00"/>
                </a:solidFill>
              </a:rPr>
              <a:t> “count is defined in another file, use it from there”</a:t>
            </a:r>
            <a:endParaRPr sz="12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00"/>
                </a:solidFill>
              </a:rPr>
              <a:t>No memory is created here</a:t>
            </a:r>
            <a:endParaRPr sz="1200">
              <a:solidFill>
                <a:srgbClr val="FFFF00"/>
              </a:solidFill>
            </a:endParaRPr>
          </a:p>
        </p:txBody>
      </p:sp>
      <p:cxnSp>
        <p:nvCxnSpPr>
          <p:cNvPr id="475" name="Google Shape;475;p68"/>
          <p:cNvCxnSpPr/>
          <p:nvPr/>
        </p:nvCxnSpPr>
        <p:spPr>
          <a:xfrm>
            <a:off x="4601525" y="948450"/>
            <a:ext cx="922200" cy="126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6" name="Google Shape;476;p68"/>
          <p:cNvCxnSpPr/>
          <p:nvPr/>
        </p:nvCxnSpPr>
        <p:spPr>
          <a:xfrm flipH="1">
            <a:off x="1662525" y="1620700"/>
            <a:ext cx="1453800" cy="111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69"/>
          <p:cNvSpPr txBox="1"/>
          <p:nvPr>
            <p:ph idx="1" type="body"/>
          </p:nvPr>
        </p:nvSpPr>
        <p:spPr>
          <a:xfrm>
            <a:off x="281325" y="1630100"/>
            <a:ext cx="45390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lang="en" sz="2100">
                <a:solidFill>
                  <a:srgbClr val="00FF00"/>
                </a:solidFill>
              </a:rPr>
              <a:t>extern</a:t>
            </a:r>
            <a:r>
              <a:rPr lang="en" sz="2100"/>
              <a:t>: Links to variables/functions defined in other files.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 No new memory—just tells compiler "it exists elsewhere." 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Makes globals accessible everywhere.</a:t>
            </a:r>
            <a:endParaRPr sz="2100"/>
          </a:p>
        </p:txBody>
      </p:sp>
      <p:sp>
        <p:nvSpPr>
          <p:cNvPr id="482" name="Google Shape;482;p69"/>
          <p:cNvSpPr txBox="1"/>
          <p:nvPr>
            <p:ph type="title"/>
          </p:nvPr>
        </p:nvSpPr>
        <p:spPr>
          <a:xfrm>
            <a:off x="1225350" y="1154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Extern Storage Class in C</a:t>
            </a:r>
            <a:endParaRPr b="1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3" name="Google Shape;483;p69"/>
          <p:cNvSpPr txBox="1"/>
          <p:nvPr/>
        </p:nvSpPr>
        <p:spPr>
          <a:xfrm>
            <a:off x="5179975" y="1630100"/>
            <a:ext cx="3783300" cy="24012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extern → declares a variable, does not allocate memory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Used to share global variables between files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Variable must be defined in one file only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Other files use extern to access it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8" name="Google Shape;488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3950" y="135500"/>
            <a:ext cx="7380626" cy="4627576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70"/>
          <p:cNvSpPr txBox="1"/>
          <p:nvPr/>
        </p:nvSpPr>
        <p:spPr>
          <a:xfrm>
            <a:off x="250150" y="4763075"/>
            <a:ext cx="8306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https://medium.com/@kumari01priyanka/bert-and-distilbert-model-for-nlp-7352eb16915e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